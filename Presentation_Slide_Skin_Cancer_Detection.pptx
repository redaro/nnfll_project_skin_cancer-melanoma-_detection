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7" r:id="rId9"/>
    <p:sldId id="264" r:id="rId10"/>
    <p:sldId id="266" r:id="rId11"/>
    <p:sldId id="270" r:id="rId12"/>
    <p:sldId id="271" r:id="rId13"/>
    <p:sldId id="272" r:id="rId14"/>
    <p:sldId id="273" r:id="rId15"/>
    <p:sldId id="274" r:id="rId16"/>
    <p:sldId id="275" r:id="rId17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HExTZvrOqBS0D/iQKKfxBQlf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827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3846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390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6379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7548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396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5454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71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347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581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31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15763122" y="7355356"/>
            <a:ext cx="2524878" cy="2931644"/>
          </a:xfrm>
          <a:custGeom>
            <a:avLst/>
            <a:gdLst/>
            <a:ahLst/>
            <a:cxnLst/>
            <a:rect l="l" t="t" r="r" b="b"/>
            <a:pathLst>
              <a:path w="2524878" h="2931644" extrusionOk="0">
                <a:moveTo>
                  <a:pt x="0" y="0"/>
                </a:moveTo>
                <a:lnTo>
                  <a:pt x="2524878" y="0"/>
                </a:lnTo>
                <a:lnTo>
                  <a:pt x="2524878" y="2931644"/>
                </a:lnTo>
                <a:lnTo>
                  <a:pt x="0" y="293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7000"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00617" y="-16987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 extrusionOk="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830323" y="0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 extrusionOk="0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4617519" y="2550338"/>
            <a:ext cx="8814419" cy="154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8000"/>
              </a:lnSpc>
            </a:pPr>
            <a:r>
              <a:rPr lang="en-US" sz="4261" b="1" dirty="0">
                <a:solidFill>
                  <a:srgbClr val="F46134"/>
                </a:solidFill>
                <a:latin typeface="Times"/>
                <a:ea typeface="Times"/>
                <a:cs typeface="Times"/>
                <a:sym typeface="Times"/>
              </a:rPr>
              <a:t>Skin Cancer (Melanoma) Detection Using Deep Learning Model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C8FDE-1957-4FCC-9C0D-5DF8F6685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527" y="321675"/>
            <a:ext cx="2457678" cy="1988549"/>
          </a:xfrm>
          <a:prstGeom prst="rect">
            <a:avLst/>
          </a:prstGeom>
        </p:spPr>
      </p:pic>
      <p:sp>
        <p:nvSpPr>
          <p:cNvPr id="17" name="Google Shape;139;p5">
            <a:extLst>
              <a:ext uri="{FF2B5EF4-FFF2-40B4-BE49-F238E27FC236}">
                <a16:creationId xmlns:a16="http://schemas.microsoft.com/office/drawing/2014/main" id="{6DC3ADD0-D22F-448A-A216-67C2D5BFA76D}"/>
              </a:ext>
            </a:extLst>
          </p:cNvPr>
          <p:cNvSpPr txBox="1"/>
          <p:nvPr/>
        </p:nvSpPr>
        <p:spPr>
          <a:xfrm>
            <a:off x="5126115" y="4668503"/>
            <a:ext cx="7366502" cy="415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9" b="1" dirty="0">
                <a:latin typeface="Times"/>
                <a:cs typeface="Times"/>
                <a:sym typeface="Times"/>
              </a:rPr>
              <a:t>Team Members:</a:t>
            </a:r>
          </a:p>
          <a:p>
            <a:pPr algn="ctr">
              <a:lnSpc>
                <a:spcPct val="139979"/>
              </a:lnSpc>
            </a:pPr>
            <a:r>
              <a:rPr lang="en-US" sz="2979" b="1" dirty="0">
                <a:latin typeface="Times"/>
                <a:cs typeface="Times"/>
                <a:sym typeface="Times"/>
              </a:rPr>
              <a:t>Arnob Chakraborty(0222210005101114)</a:t>
            </a:r>
            <a:br>
              <a:rPr lang="en-US" sz="2979" b="1" dirty="0">
                <a:latin typeface="Times"/>
                <a:cs typeface="Times"/>
                <a:sym typeface="Times"/>
              </a:rPr>
            </a:br>
            <a:r>
              <a:rPr lang="en-US" sz="2979" b="1" dirty="0" err="1">
                <a:latin typeface="Times"/>
                <a:cs typeface="Times"/>
                <a:sym typeface="Times"/>
              </a:rPr>
              <a:t>Prottoy</a:t>
            </a:r>
            <a:r>
              <a:rPr lang="en-US" sz="2979" b="1" dirty="0">
                <a:latin typeface="Times"/>
                <a:cs typeface="Times"/>
                <a:sym typeface="Times"/>
              </a:rPr>
              <a:t> Dhar(0222210005101117)</a:t>
            </a:r>
          </a:p>
          <a:p>
            <a:pPr algn="ctr">
              <a:lnSpc>
                <a:spcPct val="139979"/>
              </a:lnSpc>
            </a:pPr>
            <a:r>
              <a:rPr lang="en-US" sz="2979" b="1" dirty="0" err="1">
                <a:latin typeface="Times"/>
                <a:cs typeface="Times"/>
                <a:sym typeface="Times"/>
              </a:rPr>
              <a:t>Bristy</a:t>
            </a:r>
            <a:r>
              <a:rPr lang="en-US" sz="2979" b="1" dirty="0">
                <a:latin typeface="Times"/>
                <a:cs typeface="Times"/>
                <a:sym typeface="Times"/>
              </a:rPr>
              <a:t> Deb(0222210005101119)</a:t>
            </a:r>
          </a:p>
          <a:p>
            <a:pPr algn="ctr">
              <a:lnSpc>
                <a:spcPct val="139979"/>
              </a:lnSpc>
            </a:pPr>
            <a:endParaRPr lang="en-US" sz="2979" b="1" dirty="0">
              <a:latin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79" b="1" dirty="0">
              <a:latin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 rot="5400000">
            <a:off x="14576612" y="-3870"/>
            <a:ext cx="3707518" cy="3715258"/>
          </a:xfrm>
          <a:custGeom>
            <a:avLst/>
            <a:gdLst/>
            <a:ahLst/>
            <a:cxnLst/>
            <a:rect l="l" t="t" r="r" b="b"/>
            <a:pathLst>
              <a:path w="3707518" h="3715258" extrusionOk="0">
                <a:moveTo>
                  <a:pt x="0" y="0"/>
                </a:moveTo>
                <a:lnTo>
                  <a:pt x="3707518" y="0"/>
                </a:lnTo>
                <a:lnTo>
                  <a:pt x="3707518" y="3715258"/>
                </a:lnTo>
                <a:lnTo>
                  <a:pt x="0" y="3715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4000"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10800000">
            <a:off x="0" y="6877084"/>
            <a:ext cx="2936790" cy="3409916"/>
          </a:xfrm>
          <a:custGeom>
            <a:avLst/>
            <a:gdLst/>
            <a:ahLst/>
            <a:cxnLst/>
            <a:rect l="l" t="t" r="r" b="b"/>
            <a:pathLst>
              <a:path w="2936790" h="3409916" extrusionOk="0">
                <a:moveTo>
                  <a:pt x="0" y="0"/>
                </a:moveTo>
                <a:lnTo>
                  <a:pt x="2936790" y="0"/>
                </a:lnTo>
                <a:lnTo>
                  <a:pt x="2936790" y="3409916"/>
                </a:lnTo>
                <a:lnTo>
                  <a:pt x="0" y="3409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-4534412">
            <a:off x="15582108" y="7649110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 extrusionOk="0">
                <a:moveTo>
                  <a:pt x="0" y="0"/>
                </a:moveTo>
                <a:lnTo>
                  <a:pt x="2457677" y="0"/>
                </a:lnTo>
                <a:lnTo>
                  <a:pt x="2457677" y="2841244"/>
                </a:lnTo>
                <a:lnTo>
                  <a:pt x="0" y="284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4657790" y="869890"/>
            <a:ext cx="8972419" cy="98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99" b="1" i="0" u="none" strike="noStrike" cap="none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5210986" y="2026178"/>
            <a:ext cx="8294009" cy="1340151"/>
            <a:chOff x="0" y="-60219"/>
            <a:chExt cx="1687990" cy="272747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60219"/>
              <a:ext cx="1687990" cy="272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17"/>
                </a:lnSpc>
              </a:pPr>
              <a:r>
                <a:rPr lang="en-US" sz="2299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Melanoma is the deadliest skin cancer worldwide</a:t>
              </a:r>
              <a:endParaRPr dirty="0"/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4783005" y="2153489"/>
            <a:ext cx="273269" cy="741280"/>
            <a:chOff x="0" y="-95250"/>
            <a:chExt cx="55616" cy="150866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5056273" y="3490091"/>
            <a:ext cx="8448722" cy="1293349"/>
            <a:chOff x="-31487" y="-50694"/>
            <a:chExt cx="1719477" cy="263222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-31487" y="-50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Early detection can ensure up to 90% cure rate</a:t>
              </a:r>
              <a:endParaRPr sz="2300" dirty="0"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4783005" y="3570600"/>
            <a:ext cx="273269" cy="741280"/>
            <a:chOff x="0" y="-95250"/>
            <a:chExt cx="55616" cy="150866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5210986" y="5014307"/>
            <a:ext cx="8294009" cy="1293349"/>
            <a:chOff x="0" y="-51694"/>
            <a:chExt cx="1687990" cy="263222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51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Manual diagnosis is slow &amp; subjective</a:t>
              </a:r>
              <a:endParaRPr sz="2300" dirty="0"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4783005" y="5099730"/>
            <a:ext cx="273269" cy="741280"/>
            <a:chOff x="0" y="-95250"/>
            <a:chExt cx="55616" cy="150866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5210986" y="6383160"/>
            <a:ext cx="8294009" cy="1293349"/>
            <a:chOff x="0" y="-66783"/>
            <a:chExt cx="1687990" cy="263222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66783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Deep learning can improve accuracy</a:t>
              </a:r>
              <a:endParaRPr sz="2300" dirty="0"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4783005" y="6542723"/>
            <a:ext cx="273269" cy="741280"/>
            <a:chOff x="0" y="-95250"/>
            <a:chExt cx="55616" cy="150866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11;p2">
            <a:extLst>
              <a:ext uri="{FF2B5EF4-FFF2-40B4-BE49-F238E27FC236}">
                <a16:creationId xmlns:a16="http://schemas.microsoft.com/office/drawing/2014/main" id="{2369A5CE-5E24-4D7E-B6DE-8AFB02CB64E1}"/>
              </a:ext>
            </a:extLst>
          </p:cNvPr>
          <p:cNvGrpSpPr/>
          <p:nvPr/>
        </p:nvGrpSpPr>
        <p:grpSpPr>
          <a:xfrm>
            <a:off x="5056273" y="7752014"/>
            <a:ext cx="8448722" cy="1293349"/>
            <a:chOff x="-31487" y="-50694"/>
            <a:chExt cx="1719477" cy="263222"/>
          </a:xfrm>
        </p:grpSpPr>
        <p:sp>
          <p:nvSpPr>
            <p:cNvPr id="31" name="Google Shape;112;p2">
              <a:extLst>
                <a:ext uri="{FF2B5EF4-FFF2-40B4-BE49-F238E27FC236}">
                  <a16:creationId xmlns:a16="http://schemas.microsoft.com/office/drawing/2014/main" id="{CF2CF247-E8A0-4E2F-B03B-55C53CF3C9D1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3;p2">
              <a:extLst>
                <a:ext uri="{FF2B5EF4-FFF2-40B4-BE49-F238E27FC236}">
                  <a16:creationId xmlns:a16="http://schemas.microsoft.com/office/drawing/2014/main" id="{A5259E20-F250-479C-B860-E453E55C785D}"/>
                </a:ext>
              </a:extLst>
            </p:cNvPr>
            <p:cNvSpPr txBox="1"/>
            <p:nvPr/>
          </p:nvSpPr>
          <p:spPr>
            <a:xfrm>
              <a:off x="-31487" y="-50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Need accurate automated system</a:t>
              </a:r>
              <a:endParaRPr sz="2300" dirty="0"/>
            </a:p>
          </p:txBody>
        </p:sp>
      </p:grpSp>
      <p:grpSp>
        <p:nvGrpSpPr>
          <p:cNvPr id="33" name="Google Shape;114;p2">
            <a:extLst>
              <a:ext uri="{FF2B5EF4-FFF2-40B4-BE49-F238E27FC236}">
                <a16:creationId xmlns:a16="http://schemas.microsoft.com/office/drawing/2014/main" id="{8AA06BF2-116B-4131-9DA9-8CD1545A0A1E}"/>
              </a:ext>
            </a:extLst>
          </p:cNvPr>
          <p:cNvGrpSpPr/>
          <p:nvPr/>
        </p:nvGrpSpPr>
        <p:grpSpPr>
          <a:xfrm>
            <a:off x="4783005" y="7832523"/>
            <a:ext cx="273269" cy="741280"/>
            <a:chOff x="0" y="-95250"/>
            <a:chExt cx="55616" cy="150866"/>
          </a:xfrm>
        </p:grpSpPr>
        <p:sp>
          <p:nvSpPr>
            <p:cNvPr id="34" name="Google Shape;115;p2">
              <a:extLst>
                <a:ext uri="{FF2B5EF4-FFF2-40B4-BE49-F238E27FC236}">
                  <a16:creationId xmlns:a16="http://schemas.microsoft.com/office/drawing/2014/main" id="{E6CFEA96-416C-4E09-929E-9CD478D3BB2F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35" name="Google Shape;116;p2">
              <a:extLst>
                <a:ext uri="{FF2B5EF4-FFF2-40B4-BE49-F238E27FC236}">
                  <a16:creationId xmlns:a16="http://schemas.microsoft.com/office/drawing/2014/main" id="{A7F9AB22-64B3-4644-96A3-1FD086041AA3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7527205" y="473068"/>
            <a:ext cx="3010882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Goals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" name="Google Shape;93;p1">
            <a:extLst>
              <a:ext uri="{FF2B5EF4-FFF2-40B4-BE49-F238E27FC236}">
                <a16:creationId xmlns:a16="http://schemas.microsoft.com/office/drawing/2014/main" id="{1C433A02-8891-4000-9A3B-C920A2E25EE7}"/>
              </a:ext>
            </a:extLst>
          </p:cNvPr>
          <p:cNvSpPr txBox="1"/>
          <p:nvPr/>
        </p:nvSpPr>
        <p:spPr>
          <a:xfrm>
            <a:off x="1918927" y="1730843"/>
            <a:ext cx="15120730" cy="77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ctr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4261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Classify </a:t>
            </a:r>
            <a:r>
              <a:rPr lang="en-US" sz="4261" b="1" dirty="0" err="1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dermoscopic</a:t>
            </a:r>
            <a:r>
              <a:rPr lang="en-US" sz="4261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 images as benign or malignant using: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B5BC7-AFFE-4DAB-87B3-AAFA51F93F55}"/>
              </a:ext>
            </a:extLst>
          </p:cNvPr>
          <p:cNvSpPr/>
          <p:nvPr/>
        </p:nvSpPr>
        <p:spPr>
          <a:xfrm>
            <a:off x="6032305" y="2842115"/>
            <a:ext cx="5128591" cy="69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18008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Custom CNN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5E8AC52-DED1-4EE0-A322-76558392CAE8}"/>
              </a:ext>
            </a:extLst>
          </p:cNvPr>
          <p:cNvSpPr/>
          <p:nvPr/>
        </p:nvSpPr>
        <p:spPr>
          <a:xfrm>
            <a:off x="6032305" y="3686325"/>
            <a:ext cx="5128591" cy="69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18008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VGG16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5DBC48-244A-451C-8A13-6DC1CE8F7D83}"/>
              </a:ext>
            </a:extLst>
          </p:cNvPr>
          <p:cNvSpPr/>
          <p:nvPr/>
        </p:nvSpPr>
        <p:spPr>
          <a:xfrm>
            <a:off x="6032305" y="4417756"/>
            <a:ext cx="5128591" cy="69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18008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MobileNetV2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6349776" y="348947"/>
            <a:ext cx="5044921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Dataset Overview</a:t>
            </a:r>
            <a:endParaRPr dirty="0"/>
          </a:p>
        </p:txBody>
      </p:sp>
      <p:sp>
        <p:nvSpPr>
          <p:cNvPr id="156" name="Google Shape;156;p5"/>
          <p:cNvSpPr/>
          <p:nvPr/>
        </p:nvSpPr>
        <p:spPr>
          <a:xfrm>
            <a:off x="12572126" y="1471865"/>
            <a:ext cx="4605958" cy="3252494"/>
          </a:xfrm>
          <a:custGeom>
            <a:avLst/>
            <a:gdLst/>
            <a:ahLst/>
            <a:cxnLst/>
            <a:rect l="l" t="t" r="r" b="b"/>
            <a:pathLst>
              <a:path w="1091033" h="770432" extrusionOk="0">
                <a:moveTo>
                  <a:pt x="33617" y="0"/>
                </a:moveTo>
                <a:lnTo>
                  <a:pt x="1057416" y="0"/>
                </a:lnTo>
                <a:cubicBezTo>
                  <a:pt x="1066332" y="0"/>
                  <a:pt x="1074883" y="3542"/>
                  <a:pt x="1081187" y="9846"/>
                </a:cubicBezTo>
                <a:cubicBezTo>
                  <a:pt x="1087492" y="16151"/>
                  <a:pt x="1091033" y="24701"/>
                  <a:pt x="1091033" y="33617"/>
                </a:cubicBezTo>
                <a:lnTo>
                  <a:pt x="1091033" y="736815"/>
                </a:lnTo>
                <a:cubicBezTo>
                  <a:pt x="1091033" y="745731"/>
                  <a:pt x="1087492" y="754282"/>
                  <a:pt x="1081187" y="760586"/>
                </a:cubicBezTo>
                <a:cubicBezTo>
                  <a:pt x="1074883" y="766891"/>
                  <a:pt x="1066332" y="770432"/>
                  <a:pt x="1057416" y="770432"/>
                </a:cubicBezTo>
                <a:lnTo>
                  <a:pt x="33617" y="770432"/>
                </a:lnTo>
                <a:cubicBezTo>
                  <a:pt x="24701" y="770432"/>
                  <a:pt x="16151" y="766891"/>
                  <a:pt x="9846" y="760586"/>
                </a:cubicBezTo>
                <a:cubicBezTo>
                  <a:pt x="3542" y="754282"/>
                  <a:pt x="0" y="745731"/>
                  <a:pt x="0" y="736815"/>
                </a:cubicBezTo>
                <a:lnTo>
                  <a:pt x="0" y="33617"/>
                </a:lnTo>
                <a:cubicBezTo>
                  <a:pt x="0" y="24701"/>
                  <a:pt x="3542" y="16151"/>
                  <a:pt x="9846" y="9846"/>
                </a:cubicBezTo>
                <a:cubicBezTo>
                  <a:pt x="16151" y="3542"/>
                  <a:pt x="24701" y="0"/>
                  <a:pt x="336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105;p2">
            <a:extLst>
              <a:ext uri="{FF2B5EF4-FFF2-40B4-BE49-F238E27FC236}">
                <a16:creationId xmlns:a16="http://schemas.microsoft.com/office/drawing/2014/main" id="{D80CA801-7593-4CE2-84F0-E87BCD5F478E}"/>
              </a:ext>
            </a:extLst>
          </p:cNvPr>
          <p:cNvGrpSpPr/>
          <p:nvPr/>
        </p:nvGrpSpPr>
        <p:grpSpPr>
          <a:xfrm>
            <a:off x="931760" y="1594733"/>
            <a:ext cx="9568229" cy="2569558"/>
            <a:chOff x="0" y="0"/>
            <a:chExt cx="1687990" cy="177497"/>
          </a:xfrm>
        </p:grpSpPr>
        <p:sp>
          <p:nvSpPr>
            <p:cNvPr id="37" name="Google Shape;106;p2">
              <a:extLst>
                <a:ext uri="{FF2B5EF4-FFF2-40B4-BE49-F238E27FC236}">
                  <a16:creationId xmlns:a16="http://schemas.microsoft.com/office/drawing/2014/main" id="{ED9C014C-4616-4C1B-9B1C-23DBFBCE3171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7;p2">
              <a:extLst>
                <a:ext uri="{FF2B5EF4-FFF2-40B4-BE49-F238E27FC236}">
                  <a16:creationId xmlns:a16="http://schemas.microsoft.com/office/drawing/2014/main" id="{97995E7D-D792-4E86-B003-A639C32C17B2}"/>
                </a:ext>
              </a:extLst>
            </p:cNvPr>
            <p:cNvSpPr txBox="1"/>
            <p:nvPr/>
          </p:nvSpPr>
          <p:spPr>
            <a:xfrm>
              <a:off x="23107" y="9432"/>
              <a:ext cx="905797" cy="47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17"/>
                </a:lnSpc>
              </a:pPr>
              <a:r>
                <a:rPr lang="en-US" sz="20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Originally 10,015 </a:t>
              </a:r>
              <a:r>
                <a:rPr lang="en-US" sz="2000" b="1" dirty="0" err="1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dermoscopic</a:t>
              </a:r>
              <a:r>
                <a:rPr lang="en-US" sz="20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 images</a:t>
              </a:r>
            </a:p>
          </p:txBody>
        </p:sp>
      </p:grpSp>
      <p:grpSp>
        <p:nvGrpSpPr>
          <p:cNvPr id="39" name="Google Shape;108;p2">
            <a:extLst>
              <a:ext uri="{FF2B5EF4-FFF2-40B4-BE49-F238E27FC236}">
                <a16:creationId xmlns:a16="http://schemas.microsoft.com/office/drawing/2014/main" id="{B9118C4E-9B42-481B-82CF-1B3358AADF1E}"/>
              </a:ext>
            </a:extLst>
          </p:cNvPr>
          <p:cNvGrpSpPr/>
          <p:nvPr/>
        </p:nvGrpSpPr>
        <p:grpSpPr>
          <a:xfrm>
            <a:off x="1235691" y="1655891"/>
            <a:ext cx="264502" cy="553671"/>
            <a:chOff x="0" y="-95250"/>
            <a:chExt cx="55616" cy="150866"/>
          </a:xfrm>
        </p:grpSpPr>
        <p:sp>
          <p:nvSpPr>
            <p:cNvPr id="40" name="Google Shape;109;p2">
              <a:extLst>
                <a:ext uri="{FF2B5EF4-FFF2-40B4-BE49-F238E27FC236}">
                  <a16:creationId xmlns:a16="http://schemas.microsoft.com/office/drawing/2014/main" id="{2E5C29F3-6768-470F-9B3F-EF6A69405842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41" name="Google Shape;110;p2">
              <a:extLst>
                <a:ext uri="{FF2B5EF4-FFF2-40B4-BE49-F238E27FC236}">
                  <a16:creationId xmlns:a16="http://schemas.microsoft.com/office/drawing/2014/main" id="{7CA7BF02-79AE-4A5B-8396-D633EDF93AA9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114;p2">
            <a:extLst>
              <a:ext uri="{FF2B5EF4-FFF2-40B4-BE49-F238E27FC236}">
                <a16:creationId xmlns:a16="http://schemas.microsoft.com/office/drawing/2014/main" id="{25C8E49F-6E53-497B-B658-E26A8C347A0C}"/>
              </a:ext>
            </a:extLst>
          </p:cNvPr>
          <p:cNvGrpSpPr/>
          <p:nvPr/>
        </p:nvGrpSpPr>
        <p:grpSpPr>
          <a:xfrm>
            <a:off x="1235691" y="2955811"/>
            <a:ext cx="264502" cy="553671"/>
            <a:chOff x="0" y="-95250"/>
            <a:chExt cx="55616" cy="150866"/>
          </a:xfrm>
        </p:grpSpPr>
        <p:sp>
          <p:nvSpPr>
            <p:cNvPr id="46" name="Google Shape;115;p2">
              <a:extLst>
                <a:ext uri="{FF2B5EF4-FFF2-40B4-BE49-F238E27FC236}">
                  <a16:creationId xmlns:a16="http://schemas.microsoft.com/office/drawing/2014/main" id="{9B475E22-8CB2-47C7-8A6B-00F25718569E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47" name="Google Shape;116;p2">
              <a:extLst>
                <a:ext uri="{FF2B5EF4-FFF2-40B4-BE49-F238E27FC236}">
                  <a16:creationId xmlns:a16="http://schemas.microsoft.com/office/drawing/2014/main" id="{34528145-FC49-4B81-B261-E35C974F712C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122;p2">
            <a:extLst>
              <a:ext uri="{FF2B5EF4-FFF2-40B4-BE49-F238E27FC236}">
                <a16:creationId xmlns:a16="http://schemas.microsoft.com/office/drawing/2014/main" id="{AEC0BF9C-E9E9-41E5-91D7-7F58F6987F56}"/>
              </a:ext>
            </a:extLst>
          </p:cNvPr>
          <p:cNvSpPr txBox="1"/>
          <p:nvPr/>
        </p:nvSpPr>
        <p:spPr>
          <a:xfrm>
            <a:off x="7507863" y="7157704"/>
            <a:ext cx="264502" cy="55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107;p2">
            <a:extLst>
              <a:ext uri="{FF2B5EF4-FFF2-40B4-BE49-F238E27FC236}">
                <a16:creationId xmlns:a16="http://schemas.microsoft.com/office/drawing/2014/main" id="{5EF499A2-5918-4903-A8F1-EA9F4B238A1F}"/>
              </a:ext>
            </a:extLst>
          </p:cNvPr>
          <p:cNvSpPr txBox="1"/>
          <p:nvPr/>
        </p:nvSpPr>
        <p:spPr>
          <a:xfrm>
            <a:off x="1069886" y="2402140"/>
            <a:ext cx="6620641" cy="6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 algn="ctr">
              <a:lnSpc>
                <a:spcPct val="140017"/>
              </a:lnSpc>
            </a:pPr>
            <a:r>
              <a:rPr lang="en-US" sz="2000" b="1" dirty="0">
                <a:solidFill>
                  <a:srgbClr val="39352C"/>
                </a:solidFill>
                <a:latin typeface="Times"/>
                <a:ea typeface="Times"/>
                <a:cs typeface="Times"/>
                <a:sym typeface="Times"/>
              </a:rPr>
              <a:t>After subsampling → 1,200 images (balanced 50/50)</a:t>
            </a:r>
          </a:p>
        </p:txBody>
      </p:sp>
      <p:sp>
        <p:nvSpPr>
          <p:cNvPr id="63" name="Google Shape;107;p2">
            <a:extLst>
              <a:ext uri="{FF2B5EF4-FFF2-40B4-BE49-F238E27FC236}">
                <a16:creationId xmlns:a16="http://schemas.microsoft.com/office/drawing/2014/main" id="{91D7ADCC-8CAE-44B3-B5D6-27D4935E991A}"/>
              </a:ext>
            </a:extLst>
          </p:cNvPr>
          <p:cNvSpPr txBox="1"/>
          <p:nvPr/>
        </p:nvSpPr>
        <p:spPr>
          <a:xfrm>
            <a:off x="663209" y="3064194"/>
            <a:ext cx="6620641" cy="6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 algn="ctr">
              <a:lnSpc>
                <a:spcPct val="140017"/>
              </a:lnSpc>
            </a:pPr>
            <a:r>
              <a:rPr lang="en-US" sz="2000" b="1" dirty="0">
                <a:solidFill>
                  <a:srgbClr val="39352C"/>
                </a:solidFill>
                <a:latin typeface="Times"/>
                <a:ea typeface="Times"/>
                <a:cs typeface="Times"/>
                <a:sym typeface="Times"/>
              </a:rPr>
              <a:t>Image dimension standardized (224×224×3)</a:t>
            </a:r>
          </a:p>
        </p:txBody>
      </p:sp>
      <p:grpSp>
        <p:nvGrpSpPr>
          <p:cNvPr id="64" name="Google Shape;108;p2">
            <a:extLst>
              <a:ext uri="{FF2B5EF4-FFF2-40B4-BE49-F238E27FC236}">
                <a16:creationId xmlns:a16="http://schemas.microsoft.com/office/drawing/2014/main" id="{6CEC66EE-38F7-48E2-86EF-E8D0899804C8}"/>
              </a:ext>
            </a:extLst>
          </p:cNvPr>
          <p:cNvGrpSpPr/>
          <p:nvPr/>
        </p:nvGrpSpPr>
        <p:grpSpPr>
          <a:xfrm>
            <a:off x="1235691" y="2311149"/>
            <a:ext cx="264502" cy="553671"/>
            <a:chOff x="0" y="-95250"/>
            <a:chExt cx="55616" cy="150866"/>
          </a:xfrm>
        </p:grpSpPr>
        <p:sp>
          <p:nvSpPr>
            <p:cNvPr id="65" name="Google Shape;109;p2">
              <a:extLst>
                <a:ext uri="{FF2B5EF4-FFF2-40B4-BE49-F238E27FC236}">
                  <a16:creationId xmlns:a16="http://schemas.microsoft.com/office/drawing/2014/main" id="{3017FD39-39C4-4D27-AE57-A5797F2EA86A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66" name="Google Shape;110;p2">
              <a:extLst>
                <a:ext uri="{FF2B5EF4-FFF2-40B4-BE49-F238E27FC236}">
                  <a16:creationId xmlns:a16="http://schemas.microsoft.com/office/drawing/2014/main" id="{941CE405-7B80-434D-B3CC-1AABBC46C973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93;p1">
            <a:extLst>
              <a:ext uri="{FF2B5EF4-FFF2-40B4-BE49-F238E27FC236}">
                <a16:creationId xmlns:a16="http://schemas.microsoft.com/office/drawing/2014/main" id="{75F82785-E036-41D1-B161-E87C29019357}"/>
              </a:ext>
            </a:extLst>
          </p:cNvPr>
          <p:cNvSpPr txBox="1"/>
          <p:nvPr/>
        </p:nvSpPr>
        <p:spPr>
          <a:xfrm>
            <a:off x="6832641" y="4343614"/>
            <a:ext cx="4117793" cy="58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8000"/>
              </a:lnSpc>
            </a:pPr>
            <a:r>
              <a:rPr lang="en-US" sz="32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Sample Images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13365-6C77-4F37-9593-DED396A6F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463885" y="5171394"/>
            <a:ext cx="8530878" cy="4526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92F8F-995A-4032-BE98-01E054F55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692"/>
          <a:stretch/>
        </p:blipFill>
        <p:spPr>
          <a:xfrm>
            <a:off x="8909786" y="5157446"/>
            <a:ext cx="8842266" cy="4554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F90EF-7AD4-4F01-944B-1F8147612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4504" y="930217"/>
            <a:ext cx="5321202" cy="405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5879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100617" y="-16987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 extrusionOk="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1000"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6"/>
          <p:cNvSpPr/>
          <p:nvPr/>
        </p:nvSpPr>
        <p:spPr>
          <a:xfrm>
            <a:off x="15830323" y="0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 extrusionOk="0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5" name="Google Shape;175;p6"/>
          <p:cNvSpPr txBox="1"/>
          <p:nvPr/>
        </p:nvSpPr>
        <p:spPr>
          <a:xfrm>
            <a:off x="4349289" y="271501"/>
            <a:ext cx="10519650" cy="104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7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Preprocessing &amp; Augmentation</a:t>
            </a:r>
            <a:endParaRPr dirty="0"/>
          </a:p>
        </p:txBody>
      </p:sp>
      <p:sp>
        <p:nvSpPr>
          <p:cNvPr id="176" name="Google Shape;176;p6"/>
          <p:cNvSpPr txBox="1"/>
          <p:nvPr/>
        </p:nvSpPr>
        <p:spPr>
          <a:xfrm>
            <a:off x="4823791" y="1453814"/>
            <a:ext cx="8924438" cy="277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Resizing</a:t>
            </a:r>
            <a:endParaRPr sz="322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RGB normalization</a:t>
            </a:r>
            <a:endParaRPr sz="322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>
              <a:lnSpc>
                <a:spcPct val="140000"/>
              </a:lnSpc>
              <a:buFont typeface="+mj-lt"/>
              <a:buAutoNum type="arabicPeriod"/>
            </a:pPr>
            <a:r>
              <a:rPr lang="fr-FR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Data augmentation (rotation, flip, zoom, etc.)</a:t>
            </a:r>
            <a:endParaRPr sz="322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Class weighting to solve imbalance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75976E35-F948-4B70-AA8D-E2E0D769AB93}"/>
              </a:ext>
            </a:extLst>
          </p:cNvPr>
          <p:cNvSpPr txBox="1"/>
          <p:nvPr/>
        </p:nvSpPr>
        <p:spPr>
          <a:xfrm>
            <a:off x="5618922" y="4230333"/>
            <a:ext cx="6758609" cy="58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8000"/>
              </a:lnSpc>
            </a:pPr>
            <a:r>
              <a:rPr lang="en-US" sz="32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Data Augmentation Sample Images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CACBB-7840-4A32-94C3-C7A26BDC9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134" y="4883659"/>
            <a:ext cx="10180397" cy="485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162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15763122" y="7355356"/>
            <a:ext cx="2524878" cy="2931644"/>
          </a:xfrm>
          <a:custGeom>
            <a:avLst/>
            <a:gdLst/>
            <a:ahLst/>
            <a:cxnLst/>
            <a:rect l="l" t="t" r="r" b="b"/>
            <a:pathLst>
              <a:path w="2524878" h="2931644" extrusionOk="0">
                <a:moveTo>
                  <a:pt x="0" y="0"/>
                </a:moveTo>
                <a:lnTo>
                  <a:pt x="2524878" y="0"/>
                </a:lnTo>
                <a:lnTo>
                  <a:pt x="2524878" y="2931644"/>
                </a:lnTo>
                <a:lnTo>
                  <a:pt x="0" y="293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7000"/>
            </a:blip>
            <a:stretch>
              <a:fillRect/>
            </a:stretch>
          </a:blipFill>
          <a:ln>
            <a:noFill/>
          </a:ln>
        </p:spPr>
      </p:sp>
      <p:sp>
        <p:nvSpPr>
          <p:cNvPr id="173" name="Google Shape;173;p6"/>
          <p:cNvSpPr/>
          <p:nvPr/>
        </p:nvSpPr>
        <p:spPr>
          <a:xfrm>
            <a:off x="100617" y="-16987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 extrusionOk="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6"/>
          <p:cNvSpPr/>
          <p:nvPr/>
        </p:nvSpPr>
        <p:spPr>
          <a:xfrm>
            <a:off x="15830323" y="0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 extrusionOk="0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EAE76-776A-4D73-A215-52F3479B6E6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29" t="3920" r="8222" b="3977"/>
          <a:stretch/>
        </p:blipFill>
        <p:spPr>
          <a:xfrm>
            <a:off x="7447722" y="196553"/>
            <a:ext cx="6715371" cy="10040330"/>
          </a:xfrm>
          <a:prstGeom prst="rect">
            <a:avLst/>
          </a:prstGeom>
        </p:spPr>
      </p:pic>
      <p:sp>
        <p:nvSpPr>
          <p:cNvPr id="10" name="Google Shape;175;p6">
            <a:extLst>
              <a:ext uri="{FF2B5EF4-FFF2-40B4-BE49-F238E27FC236}">
                <a16:creationId xmlns:a16="http://schemas.microsoft.com/office/drawing/2014/main" id="{0DBC44A5-6422-405D-8138-31B97348F969}"/>
              </a:ext>
            </a:extLst>
          </p:cNvPr>
          <p:cNvSpPr txBox="1"/>
          <p:nvPr/>
        </p:nvSpPr>
        <p:spPr>
          <a:xfrm>
            <a:off x="2809461" y="4171304"/>
            <a:ext cx="3458817" cy="104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7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Workflow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1638710" y="8229600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6103717" y="8229600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6492338" y="644715"/>
            <a:ext cx="5303324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CNN Architecture</a:t>
            </a:r>
            <a:endParaRPr lang="en-US"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3CFB1CA-5738-41F2-B7F0-474F66460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169" y="2333250"/>
            <a:ext cx="1261286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8266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6492338" y="644715"/>
            <a:ext cx="5763358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VGG16 Architecture</a:t>
            </a:r>
            <a:endParaRPr lang="en-US"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71CE1A5-B7BE-4182-9EEA-FF7D80E1F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358" y="1471865"/>
            <a:ext cx="11198938" cy="3412176"/>
          </a:xfrm>
          <a:prstGeom prst="rect">
            <a:avLst/>
          </a:prstGeom>
        </p:spPr>
      </p:pic>
      <p:sp>
        <p:nvSpPr>
          <p:cNvPr id="15" name="Google Shape;146;p5">
            <a:extLst>
              <a:ext uri="{FF2B5EF4-FFF2-40B4-BE49-F238E27FC236}">
                <a16:creationId xmlns:a16="http://schemas.microsoft.com/office/drawing/2014/main" id="{2E2B110E-091E-4771-9A8F-5393A65B442B}"/>
              </a:ext>
            </a:extLst>
          </p:cNvPr>
          <p:cNvSpPr txBox="1"/>
          <p:nvPr/>
        </p:nvSpPr>
        <p:spPr>
          <a:xfrm>
            <a:off x="6333500" y="5249563"/>
            <a:ext cx="7170653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MobileNetV2 Architecture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E1161-0C3B-48C0-80C9-EDE38794D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358" y="6560275"/>
            <a:ext cx="12193702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7199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5154346" y="883419"/>
            <a:ext cx="8747184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Results (Accuracy Comparison)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AFE240-B91A-4BBF-85B2-089565600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06594"/>
              </p:ext>
            </p:extLst>
          </p:nvPr>
        </p:nvGraphicFramePr>
        <p:xfrm>
          <a:off x="6130211" y="3098112"/>
          <a:ext cx="6600813" cy="27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232">
                  <a:extLst>
                    <a:ext uri="{9D8B030D-6E8A-4147-A177-3AD203B41FA5}">
                      <a16:colId xmlns:a16="http://schemas.microsoft.com/office/drawing/2014/main" val="3111313195"/>
                    </a:ext>
                  </a:extLst>
                </a:gridCol>
                <a:gridCol w="3531581">
                  <a:extLst>
                    <a:ext uri="{9D8B030D-6E8A-4147-A177-3AD203B41FA5}">
                      <a16:colId xmlns:a16="http://schemas.microsoft.com/office/drawing/2014/main" val="718349608"/>
                    </a:ext>
                  </a:extLst>
                </a:gridCol>
              </a:tblGrid>
              <a:tr h="66418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827887"/>
                  </a:ext>
                </a:extLst>
              </a:tr>
              <a:tr h="71561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85091"/>
                  </a:ext>
                </a:extLst>
              </a:tr>
              <a:tr h="62285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87</a:t>
                      </a:r>
                      <a:r>
                        <a:rPr lang="en-US" sz="2400" b="1" u="non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86383"/>
                  </a:ext>
                </a:extLst>
              </a:tr>
              <a:tr h="70236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62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84190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1586192" y="63790"/>
            <a:ext cx="15115615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Learning Curves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84FF8E-A4C1-412C-86EB-E6DF4E43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701" y="1024801"/>
            <a:ext cx="9444790" cy="3675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8ABAC8-FBF9-4BA0-A3DA-843B161CD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701" y="5543226"/>
            <a:ext cx="9235458" cy="3593599"/>
          </a:xfrm>
          <a:prstGeom prst="rect">
            <a:avLst/>
          </a:prstGeom>
        </p:spPr>
      </p:pic>
      <p:sp>
        <p:nvSpPr>
          <p:cNvPr id="42" name="Google Shape;146;p5">
            <a:extLst>
              <a:ext uri="{FF2B5EF4-FFF2-40B4-BE49-F238E27FC236}">
                <a16:creationId xmlns:a16="http://schemas.microsoft.com/office/drawing/2014/main" id="{5D659971-0FB7-4A5C-B256-FBFDC2FA58BA}"/>
              </a:ext>
            </a:extLst>
          </p:cNvPr>
          <p:cNvSpPr txBox="1"/>
          <p:nvPr/>
        </p:nvSpPr>
        <p:spPr>
          <a:xfrm>
            <a:off x="1426346" y="3664791"/>
            <a:ext cx="2085480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CNN</a:t>
            </a:r>
            <a:endParaRPr dirty="0"/>
          </a:p>
        </p:txBody>
      </p:sp>
      <p:sp>
        <p:nvSpPr>
          <p:cNvPr id="43" name="Google Shape;146;p5">
            <a:extLst>
              <a:ext uri="{FF2B5EF4-FFF2-40B4-BE49-F238E27FC236}">
                <a16:creationId xmlns:a16="http://schemas.microsoft.com/office/drawing/2014/main" id="{D431486A-4514-4EE1-8852-CD8C060C5108}"/>
              </a:ext>
            </a:extLst>
          </p:cNvPr>
          <p:cNvSpPr txBox="1"/>
          <p:nvPr/>
        </p:nvSpPr>
        <p:spPr>
          <a:xfrm>
            <a:off x="1426346" y="7613248"/>
            <a:ext cx="2085480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VGG16</a:t>
            </a:r>
            <a:endParaRPr dirty="0"/>
          </a:p>
        </p:txBody>
      </p:sp>
      <p:sp>
        <p:nvSpPr>
          <p:cNvPr id="45" name="Google Shape;176;p6">
            <a:extLst>
              <a:ext uri="{FF2B5EF4-FFF2-40B4-BE49-F238E27FC236}">
                <a16:creationId xmlns:a16="http://schemas.microsoft.com/office/drawing/2014/main" id="{66EC8850-8EB7-435F-AA7C-74CCF5EF8ABD}"/>
              </a:ext>
            </a:extLst>
          </p:cNvPr>
          <p:cNvSpPr txBox="1"/>
          <p:nvPr/>
        </p:nvSpPr>
        <p:spPr>
          <a:xfrm>
            <a:off x="6215267" y="9305518"/>
            <a:ext cx="609600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8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VGG16 shows most stable convergence</a:t>
            </a:r>
          </a:p>
        </p:txBody>
      </p:sp>
      <p:sp>
        <p:nvSpPr>
          <p:cNvPr id="46" name="Google Shape;176;p6">
            <a:extLst>
              <a:ext uri="{FF2B5EF4-FFF2-40B4-BE49-F238E27FC236}">
                <a16:creationId xmlns:a16="http://schemas.microsoft.com/office/drawing/2014/main" id="{E5277E75-C53E-406A-87CF-1539DD011A98}"/>
              </a:ext>
            </a:extLst>
          </p:cNvPr>
          <p:cNvSpPr txBox="1"/>
          <p:nvPr/>
        </p:nvSpPr>
        <p:spPr>
          <a:xfrm>
            <a:off x="6215266" y="4765610"/>
            <a:ext cx="609600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fr-FR" sz="28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CNN </a:t>
            </a:r>
            <a:r>
              <a:rPr lang="fr-FR" sz="2800" b="1" dirty="0" err="1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is</a:t>
            </a:r>
            <a:r>
              <a:rPr lang="fr-FR" sz="28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fr-FR" sz="2800" b="1" dirty="0" err="1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slightly</a:t>
            </a:r>
            <a:r>
              <a:rPr lang="fr-FR" sz="280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fr-FR" sz="2800" b="1" dirty="0" err="1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overfitting</a:t>
            </a:r>
            <a:endParaRPr lang="fr-FR" sz="2800" b="1" dirty="0">
              <a:solidFill>
                <a:schemeClr val="tx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27039436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1826161" y="830877"/>
            <a:ext cx="15115615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Learning Curves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146;p5">
            <a:extLst>
              <a:ext uri="{FF2B5EF4-FFF2-40B4-BE49-F238E27FC236}">
                <a16:creationId xmlns:a16="http://schemas.microsoft.com/office/drawing/2014/main" id="{5D659971-0FB7-4A5C-B256-FBFDC2FA58BA}"/>
              </a:ext>
            </a:extLst>
          </p:cNvPr>
          <p:cNvSpPr txBox="1"/>
          <p:nvPr/>
        </p:nvSpPr>
        <p:spPr>
          <a:xfrm>
            <a:off x="486937" y="3753111"/>
            <a:ext cx="3652322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MobileNetV2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6AB3F5-E6B9-4FBE-89EC-818CB217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74" y="2115632"/>
            <a:ext cx="12080275" cy="4700543"/>
          </a:xfrm>
          <a:prstGeom prst="rect">
            <a:avLst/>
          </a:prstGeom>
        </p:spPr>
      </p:pic>
      <p:sp>
        <p:nvSpPr>
          <p:cNvPr id="15" name="Google Shape;176;p6">
            <a:extLst>
              <a:ext uri="{FF2B5EF4-FFF2-40B4-BE49-F238E27FC236}">
                <a16:creationId xmlns:a16="http://schemas.microsoft.com/office/drawing/2014/main" id="{8AB4E2A5-B4A5-4042-A4C5-654EC2C96860}"/>
              </a:ext>
            </a:extLst>
          </p:cNvPr>
          <p:cNvSpPr txBox="1"/>
          <p:nvPr/>
        </p:nvSpPr>
        <p:spPr>
          <a:xfrm>
            <a:off x="6016485" y="7152248"/>
            <a:ext cx="10243931" cy="6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Learning curve shows good stability but lower accuracy</a:t>
            </a:r>
          </a:p>
        </p:txBody>
      </p:sp>
    </p:spTree>
    <p:extLst>
      <p:ext uri="{BB962C8B-B14F-4D97-AF65-F5344CB8AC3E}">
        <p14:creationId xmlns:p14="http://schemas.microsoft.com/office/powerpoint/2010/main" val="7979857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4770408" y="305975"/>
            <a:ext cx="8747184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Final Prediction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3F77930-A2ED-4024-8D0F-7CD31FA9F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409" y="1257812"/>
            <a:ext cx="9057446" cy="835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459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4770408" y="305975"/>
            <a:ext cx="8747184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Limitations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05;p2">
            <a:extLst>
              <a:ext uri="{FF2B5EF4-FFF2-40B4-BE49-F238E27FC236}">
                <a16:creationId xmlns:a16="http://schemas.microsoft.com/office/drawing/2014/main" id="{FE63B432-3BC1-4C14-8341-E0292B101596}"/>
              </a:ext>
            </a:extLst>
          </p:cNvPr>
          <p:cNvGrpSpPr/>
          <p:nvPr/>
        </p:nvGrpSpPr>
        <p:grpSpPr>
          <a:xfrm>
            <a:off x="5071769" y="1471865"/>
            <a:ext cx="8294009" cy="1340151"/>
            <a:chOff x="0" y="-60219"/>
            <a:chExt cx="1687990" cy="272747"/>
          </a:xfrm>
        </p:grpSpPr>
        <p:sp>
          <p:nvSpPr>
            <p:cNvPr id="14" name="Google Shape;106;p2">
              <a:extLst>
                <a:ext uri="{FF2B5EF4-FFF2-40B4-BE49-F238E27FC236}">
                  <a16:creationId xmlns:a16="http://schemas.microsoft.com/office/drawing/2014/main" id="{A2B53AAE-34C4-4CBA-9FB1-E3A9C507F618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;p2">
              <a:extLst>
                <a:ext uri="{FF2B5EF4-FFF2-40B4-BE49-F238E27FC236}">
                  <a16:creationId xmlns:a16="http://schemas.microsoft.com/office/drawing/2014/main" id="{0096A021-28BA-4892-A921-F618F3C61C66}"/>
                </a:ext>
              </a:extLst>
            </p:cNvPr>
            <p:cNvSpPr txBox="1"/>
            <p:nvPr/>
          </p:nvSpPr>
          <p:spPr>
            <a:xfrm>
              <a:off x="0" y="-60219"/>
              <a:ext cx="1687990" cy="272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17"/>
                </a:lnSpc>
              </a:pPr>
              <a:r>
                <a:rPr lang="en-US" sz="2299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Small dataset (1,200 images)</a:t>
              </a:r>
              <a:endParaRPr dirty="0"/>
            </a:p>
          </p:txBody>
        </p: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6B618EA-932A-40EF-94F3-4D12B3D35F58}"/>
              </a:ext>
            </a:extLst>
          </p:cNvPr>
          <p:cNvGrpSpPr/>
          <p:nvPr/>
        </p:nvGrpSpPr>
        <p:grpSpPr>
          <a:xfrm>
            <a:off x="4643788" y="1599176"/>
            <a:ext cx="273269" cy="741280"/>
            <a:chOff x="0" y="-95250"/>
            <a:chExt cx="55616" cy="150866"/>
          </a:xfrm>
        </p:grpSpPr>
        <p:sp>
          <p:nvSpPr>
            <p:cNvPr id="17" name="Google Shape;109;p2">
              <a:extLst>
                <a:ext uri="{FF2B5EF4-FFF2-40B4-BE49-F238E27FC236}">
                  <a16:creationId xmlns:a16="http://schemas.microsoft.com/office/drawing/2014/main" id="{88CCB5B1-2F73-4A70-9716-B0B4A666DBF5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8" name="Google Shape;110;p2">
              <a:extLst>
                <a:ext uri="{FF2B5EF4-FFF2-40B4-BE49-F238E27FC236}">
                  <a16:creationId xmlns:a16="http://schemas.microsoft.com/office/drawing/2014/main" id="{3898EF3B-A2CF-4605-970C-9390B7DF8C5A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11;p2">
            <a:extLst>
              <a:ext uri="{FF2B5EF4-FFF2-40B4-BE49-F238E27FC236}">
                <a16:creationId xmlns:a16="http://schemas.microsoft.com/office/drawing/2014/main" id="{6F6C2258-2919-410B-BE6D-AF0B912C8FA3}"/>
              </a:ext>
            </a:extLst>
          </p:cNvPr>
          <p:cNvGrpSpPr/>
          <p:nvPr/>
        </p:nvGrpSpPr>
        <p:grpSpPr>
          <a:xfrm>
            <a:off x="4917056" y="2935778"/>
            <a:ext cx="8448722" cy="1293349"/>
            <a:chOff x="-31487" y="-50694"/>
            <a:chExt cx="1719477" cy="263222"/>
          </a:xfrm>
        </p:grpSpPr>
        <p:sp>
          <p:nvSpPr>
            <p:cNvPr id="20" name="Google Shape;112;p2">
              <a:extLst>
                <a:ext uri="{FF2B5EF4-FFF2-40B4-BE49-F238E27FC236}">
                  <a16:creationId xmlns:a16="http://schemas.microsoft.com/office/drawing/2014/main" id="{344D3BF4-58C4-43F7-8547-866DE978A08F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3;p2">
              <a:extLst>
                <a:ext uri="{FF2B5EF4-FFF2-40B4-BE49-F238E27FC236}">
                  <a16:creationId xmlns:a16="http://schemas.microsoft.com/office/drawing/2014/main" id="{C31DBD3F-AF0A-46A9-943C-638281CFCCDE}"/>
                </a:ext>
              </a:extLst>
            </p:cNvPr>
            <p:cNvSpPr txBox="1"/>
            <p:nvPr/>
          </p:nvSpPr>
          <p:spPr>
            <a:xfrm>
              <a:off x="-31487" y="-50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Potential overfitting</a:t>
              </a:r>
              <a:endParaRPr sz="2300" dirty="0"/>
            </a:p>
          </p:txBody>
        </p:sp>
      </p:grpSp>
      <p:grpSp>
        <p:nvGrpSpPr>
          <p:cNvPr id="22" name="Google Shape;114;p2">
            <a:extLst>
              <a:ext uri="{FF2B5EF4-FFF2-40B4-BE49-F238E27FC236}">
                <a16:creationId xmlns:a16="http://schemas.microsoft.com/office/drawing/2014/main" id="{925887D3-42F7-4AEA-8B7E-450D817D7F32}"/>
              </a:ext>
            </a:extLst>
          </p:cNvPr>
          <p:cNvGrpSpPr/>
          <p:nvPr/>
        </p:nvGrpSpPr>
        <p:grpSpPr>
          <a:xfrm>
            <a:off x="4643788" y="3016287"/>
            <a:ext cx="273269" cy="741280"/>
            <a:chOff x="0" y="-95250"/>
            <a:chExt cx="55616" cy="150866"/>
          </a:xfrm>
        </p:grpSpPr>
        <p:sp>
          <p:nvSpPr>
            <p:cNvPr id="23" name="Google Shape;115;p2">
              <a:extLst>
                <a:ext uri="{FF2B5EF4-FFF2-40B4-BE49-F238E27FC236}">
                  <a16:creationId xmlns:a16="http://schemas.microsoft.com/office/drawing/2014/main" id="{A5A143E9-FA75-4F63-9252-E6A4E470B64A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24" name="Google Shape;116;p2">
              <a:extLst>
                <a:ext uri="{FF2B5EF4-FFF2-40B4-BE49-F238E27FC236}">
                  <a16:creationId xmlns:a16="http://schemas.microsoft.com/office/drawing/2014/main" id="{52E92F82-4438-42C3-B2F4-3C0CB7A3FC97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117;p2">
            <a:extLst>
              <a:ext uri="{FF2B5EF4-FFF2-40B4-BE49-F238E27FC236}">
                <a16:creationId xmlns:a16="http://schemas.microsoft.com/office/drawing/2014/main" id="{92813372-310C-42F4-8EA4-2AB178F0BD9B}"/>
              </a:ext>
            </a:extLst>
          </p:cNvPr>
          <p:cNvGrpSpPr/>
          <p:nvPr/>
        </p:nvGrpSpPr>
        <p:grpSpPr>
          <a:xfrm>
            <a:off x="5071769" y="4459994"/>
            <a:ext cx="8294009" cy="1293349"/>
            <a:chOff x="0" y="-51694"/>
            <a:chExt cx="1687990" cy="263222"/>
          </a:xfrm>
        </p:grpSpPr>
        <p:sp>
          <p:nvSpPr>
            <p:cNvPr id="26" name="Google Shape;118;p2">
              <a:extLst>
                <a:ext uri="{FF2B5EF4-FFF2-40B4-BE49-F238E27FC236}">
                  <a16:creationId xmlns:a16="http://schemas.microsoft.com/office/drawing/2014/main" id="{C7F607A2-55AC-4427-9135-9DADABBECE5C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9;p2">
              <a:extLst>
                <a:ext uri="{FF2B5EF4-FFF2-40B4-BE49-F238E27FC236}">
                  <a16:creationId xmlns:a16="http://schemas.microsoft.com/office/drawing/2014/main" id="{AAF09C80-F351-443A-B650-FE80F79AFCE5}"/>
                </a:ext>
              </a:extLst>
            </p:cNvPr>
            <p:cNvSpPr txBox="1"/>
            <p:nvPr/>
          </p:nvSpPr>
          <p:spPr>
            <a:xfrm>
              <a:off x="0" y="-51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Bias risk (skin tone, age, ethnicity)</a:t>
              </a:r>
              <a:endParaRPr sz="2300" dirty="0"/>
            </a:p>
          </p:txBody>
        </p:sp>
      </p:grpSp>
      <p:grpSp>
        <p:nvGrpSpPr>
          <p:cNvPr id="28" name="Google Shape;120;p2">
            <a:extLst>
              <a:ext uri="{FF2B5EF4-FFF2-40B4-BE49-F238E27FC236}">
                <a16:creationId xmlns:a16="http://schemas.microsoft.com/office/drawing/2014/main" id="{F401F590-AFF6-4084-8C33-4892F1543533}"/>
              </a:ext>
            </a:extLst>
          </p:cNvPr>
          <p:cNvGrpSpPr/>
          <p:nvPr/>
        </p:nvGrpSpPr>
        <p:grpSpPr>
          <a:xfrm>
            <a:off x="4643788" y="4545417"/>
            <a:ext cx="273269" cy="741280"/>
            <a:chOff x="0" y="-95250"/>
            <a:chExt cx="55616" cy="150866"/>
          </a:xfrm>
        </p:grpSpPr>
        <p:sp>
          <p:nvSpPr>
            <p:cNvPr id="29" name="Google Shape;121;p2">
              <a:extLst>
                <a:ext uri="{FF2B5EF4-FFF2-40B4-BE49-F238E27FC236}">
                  <a16:creationId xmlns:a16="http://schemas.microsoft.com/office/drawing/2014/main" id="{557F79F3-144B-402F-89EE-C8EC77BB4FE5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30" name="Google Shape;122;p2">
              <a:extLst>
                <a:ext uri="{FF2B5EF4-FFF2-40B4-BE49-F238E27FC236}">
                  <a16:creationId xmlns:a16="http://schemas.microsoft.com/office/drawing/2014/main" id="{89595BC9-7984-43A0-9EF3-082109F0DE5A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123;p2">
            <a:extLst>
              <a:ext uri="{FF2B5EF4-FFF2-40B4-BE49-F238E27FC236}">
                <a16:creationId xmlns:a16="http://schemas.microsoft.com/office/drawing/2014/main" id="{C0A006B4-84E7-46E0-B9C1-B8A000FC8F68}"/>
              </a:ext>
            </a:extLst>
          </p:cNvPr>
          <p:cNvGrpSpPr/>
          <p:nvPr/>
        </p:nvGrpSpPr>
        <p:grpSpPr>
          <a:xfrm>
            <a:off x="5071769" y="5828847"/>
            <a:ext cx="8294009" cy="1293349"/>
            <a:chOff x="0" y="-66783"/>
            <a:chExt cx="1687990" cy="263222"/>
          </a:xfrm>
        </p:grpSpPr>
        <p:sp>
          <p:nvSpPr>
            <p:cNvPr id="32" name="Google Shape;124;p2">
              <a:extLst>
                <a:ext uri="{FF2B5EF4-FFF2-40B4-BE49-F238E27FC236}">
                  <a16:creationId xmlns:a16="http://schemas.microsoft.com/office/drawing/2014/main" id="{1D187A1A-AD9A-44C8-92FE-764C74332905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5;p2">
              <a:extLst>
                <a:ext uri="{FF2B5EF4-FFF2-40B4-BE49-F238E27FC236}">
                  <a16:creationId xmlns:a16="http://schemas.microsoft.com/office/drawing/2014/main" id="{50529AD3-8481-470F-A744-DFFCA12F0828}"/>
                </a:ext>
              </a:extLst>
            </p:cNvPr>
            <p:cNvSpPr txBox="1"/>
            <p:nvPr/>
          </p:nvSpPr>
          <p:spPr>
            <a:xfrm>
              <a:off x="0" y="-66783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Limited generalization</a:t>
              </a:r>
              <a:endParaRPr sz="2300" dirty="0"/>
            </a:p>
          </p:txBody>
        </p:sp>
      </p:grpSp>
      <p:grpSp>
        <p:nvGrpSpPr>
          <p:cNvPr id="34" name="Google Shape;126;p2">
            <a:extLst>
              <a:ext uri="{FF2B5EF4-FFF2-40B4-BE49-F238E27FC236}">
                <a16:creationId xmlns:a16="http://schemas.microsoft.com/office/drawing/2014/main" id="{79E40F7F-DCF5-4AF5-8242-9A54893092C8}"/>
              </a:ext>
            </a:extLst>
          </p:cNvPr>
          <p:cNvGrpSpPr/>
          <p:nvPr/>
        </p:nvGrpSpPr>
        <p:grpSpPr>
          <a:xfrm>
            <a:off x="4643788" y="5988410"/>
            <a:ext cx="273269" cy="741280"/>
            <a:chOff x="0" y="-95250"/>
            <a:chExt cx="55616" cy="150866"/>
          </a:xfrm>
        </p:grpSpPr>
        <p:sp>
          <p:nvSpPr>
            <p:cNvPr id="35" name="Google Shape;127;p2">
              <a:extLst>
                <a:ext uri="{FF2B5EF4-FFF2-40B4-BE49-F238E27FC236}">
                  <a16:creationId xmlns:a16="http://schemas.microsoft.com/office/drawing/2014/main" id="{DB1145A4-062E-4558-86B7-C0B4B93D6091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36" name="Google Shape;128;p2">
              <a:extLst>
                <a:ext uri="{FF2B5EF4-FFF2-40B4-BE49-F238E27FC236}">
                  <a16:creationId xmlns:a16="http://schemas.microsoft.com/office/drawing/2014/main" id="{5CDC53DB-60B0-4D6F-9F5F-FBB78966581E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111;p2">
            <a:extLst>
              <a:ext uri="{FF2B5EF4-FFF2-40B4-BE49-F238E27FC236}">
                <a16:creationId xmlns:a16="http://schemas.microsoft.com/office/drawing/2014/main" id="{2423E3CC-8A17-480B-BE91-D16569F35F9A}"/>
              </a:ext>
            </a:extLst>
          </p:cNvPr>
          <p:cNvGrpSpPr/>
          <p:nvPr/>
        </p:nvGrpSpPr>
        <p:grpSpPr>
          <a:xfrm>
            <a:off x="4917056" y="7197701"/>
            <a:ext cx="8448722" cy="1293349"/>
            <a:chOff x="-31487" y="-50694"/>
            <a:chExt cx="1719477" cy="263222"/>
          </a:xfrm>
        </p:grpSpPr>
        <p:sp>
          <p:nvSpPr>
            <p:cNvPr id="38" name="Google Shape;112;p2">
              <a:extLst>
                <a:ext uri="{FF2B5EF4-FFF2-40B4-BE49-F238E27FC236}">
                  <a16:creationId xmlns:a16="http://schemas.microsoft.com/office/drawing/2014/main" id="{800512C5-46AB-43E3-B5B4-4343EF1B6167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3;p2">
              <a:extLst>
                <a:ext uri="{FF2B5EF4-FFF2-40B4-BE49-F238E27FC236}">
                  <a16:creationId xmlns:a16="http://schemas.microsoft.com/office/drawing/2014/main" id="{B7F55400-4D6B-4099-B34C-657E9A1EBF33}"/>
                </a:ext>
              </a:extLst>
            </p:cNvPr>
            <p:cNvSpPr txBox="1"/>
            <p:nvPr/>
          </p:nvSpPr>
          <p:spPr>
            <a:xfrm>
              <a:off x="-31487" y="-50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Need privacy &amp; fairness</a:t>
              </a:r>
              <a:endParaRPr sz="2300" dirty="0"/>
            </a:p>
          </p:txBody>
        </p:sp>
      </p:grpSp>
      <p:grpSp>
        <p:nvGrpSpPr>
          <p:cNvPr id="40" name="Google Shape;114;p2">
            <a:extLst>
              <a:ext uri="{FF2B5EF4-FFF2-40B4-BE49-F238E27FC236}">
                <a16:creationId xmlns:a16="http://schemas.microsoft.com/office/drawing/2014/main" id="{9000A2D2-6FC3-4477-A4C4-690A235C8A18}"/>
              </a:ext>
            </a:extLst>
          </p:cNvPr>
          <p:cNvGrpSpPr/>
          <p:nvPr/>
        </p:nvGrpSpPr>
        <p:grpSpPr>
          <a:xfrm>
            <a:off x="4643788" y="7278210"/>
            <a:ext cx="273269" cy="741280"/>
            <a:chOff x="0" y="-95250"/>
            <a:chExt cx="55616" cy="150866"/>
          </a:xfrm>
        </p:grpSpPr>
        <p:sp>
          <p:nvSpPr>
            <p:cNvPr id="41" name="Google Shape;115;p2">
              <a:extLst>
                <a:ext uri="{FF2B5EF4-FFF2-40B4-BE49-F238E27FC236}">
                  <a16:creationId xmlns:a16="http://schemas.microsoft.com/office/drawing/2014/main" id="{2275D2CD-DF24-470C-BDDC-6D33C482F556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42" name="Google Shape;116;p2">
              <a:extLst>
                <a:ext uri="{FF2B5EF4-FFF2-40B4-BE49-F238E27FC236}">
                  <a16:creationId xmlns:a16="http://schemas.microsoft.com/office/drawing/2014/main" id="{1247D2D6-D957-411B-A3E2-1B04CA0BA75F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57870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-77978"/>
            <a:ext cx="3652323" cy="3948457"/>
          </a:xfrm>
          <a:custGeom>
            <a:avLst/>
            <a:gdLst/>
            <a:ahLst/>
            <a:cxnLst/>
            <a:rect l="l" t="t" r="r" b="b"/>
            <a:pathLst>
              <a:path w="3652323" h="3948457" extrusionOk="0">
                <a:moveTo>
                  <a:pt x="0" y="0"/>
                </a:moveTo>
                <a:lnTo>
                  <a:pt x="3652323" y="0"/>
                </a:lnTo>
                <a:lnTo>
                  <a:pt x="3652323" y="3948457"/>
                </a:lnTo>
                <a:lnTo>
                  <a:pt x="0" y="394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 extrusionOk="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 extrusionOk="0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4770408" y="305975"/>
            <a:ext cx="8747184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ea typeface="Times"/>
                <a:cs typeface="Times"/>
                <a:sym typeface="Times"/>
              </a:rPr>
              <a:t>Future Work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2255696" y="1150175"/>
            <a:ext cx="4605958" cy="3574184"/>
            <a:chOff x="0" y="-76200"/>
            <a:chExt cx="1091033" cy="846632"/>
          </a:xfrm>
        </p:grpSpPr>
        <p:sp>
          <p:nvSpPr>
            <p:cNvPr id="162" name="Google Shape;162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05;p2">
            <a:extLst>
              <a:ext uri="{FF2B5EF4-FFF2-40B4-BE49-F238E27FC236}">
                <a16:creationId xmlns:a16="http://schemas.microsoft.com/office/drawing/2014/main" id="{FE63B432-3BC1-4C14-8341-E0292B101596}"/>
              </a:ext>
            </a:extLst>
          </p:cNvPr>
          <p:cNvGrpSpPr/>
          <p:nvPr/>
        </p:nvGrpSpPr>
        <p:grpSpPr>
          <a:xfrm>
            <a:off x="5071769" y="1471865"/>
            <a:ext cx="8294009" cy="1340151"/>
            <a:chOff x="0" y="-60219"/>
            <a:chExt cx="1687990" cy="272747"/>
          </a:xfrm>
        </p:grpSpPr>
        <p:sp>
          <p:nvSpPr>
            <p:cNvPr id="14" name="Google Shape;106;p2">
              <a:extLst>
                <a:ext uri="{FF2B5EF4-FFF2-40B4-BE49-F238E27FC236}">
                  <a16:creationId xmlns:a16="http://schemas.microsoft.com/office/drawing/2014/main" id="{A2B53AAE-34C4-4CBA-9FB1-E3A9C507F618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;p2">
              <a:extLst>
                <a:ext uri="{FF2B5EF4-FFF2-40B4-BE49-F238E27FC236}">
                  <a16:creationId xmlns:a16="http://schemas.microsoft.com/office/drawing/2014/main" id="{0096A021-28BA-4892-A921-F618F3C61C66}"/>
                </a:ext>
              </a:extLst>
            </p:cNvPr>
            <p:cNvSpPr txBox="1"/>
            <p:nvPr/>
          </p:nvSpPr>
          <p:spPr>
            <a:xfrm>
              <a:off x="0" y="-60219"/>
              <a:ext cx="1687990" cy="272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17"/>
                </a:lnSpc>
              </a:pPr>
              <a:r>
                <a:rPr lang="en-US" sz="2299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Train on full HAM10000</a:t>
              </a:r>
              <a:endParaRPr dirty="0"/>
            </a:p>
          </p:txBody>
        </p: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6B618EA-932A-40EF-94F3-4D12B3D35F58}"/>
              </a:ext>
            </a:extLst>
          </p:cNvPr>
          <p:cNvGrpSpPr/>
          <p:nvPr/>
        </p:nvGrpSpPr>
        <p:grpSpPr>
          <a:xfrm>
            <a:off x="4643788" y="1599176"/>
            <a:ext cx="273269" cy="741280"/>
            <a:chOff x="0" y="-95250"/>
            <a:chExt cx="55616" cy="150866"/>
          </a:xfrm>
        </p:grpSpPr>
        <p:sp>
          <p:nvSpPr>
            <p:cNvPr id="17" name="Google Shape;109;p2">
              <a:extLst>
                <a:ext uri="{FF2B5EF4-FFF2-40B4-BE49-F238E27FC236}">
                  <a16:creationId xmlns:a16="http://schemas.microsoft.com/office/drawing/2014/main" id="{88CCB5B1-2F73-4A70-9716-B0B4A666DBF5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18" name="Google Shape;110;p2">
              <a:extLst>
                <a:ext uri="{FF2B5EF4-FFF2-40B4-BE49-F238E27FC236}">
                  <a16:creationId xmlns:a16="http://schemas.microsoft.com/office/drawing/2014/main" id="{3898EF3B-A2CF-4605-970C-9390B7DF8C5A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11;p2">
            <a:extLst>
              <a:ext uri="{FF2B5EF4-FFF2-40B4-BE49-F238E27FC236}">
                <a16:creationId xmlns:a16="http://schemas.microsoft.com/office/drawing/2014/main" id="{6F6C2258-2919-410B-BE6D-AF0B912C8FA3}"/>
              </a:ext>
            </a:extLst>
          </p:cNvPr>
          <p:cNvGrpSpPr/>
          <p:nvPr/>
        </p:nvGrpSpPr>
        <p:grpSpPr>
          <a:xfrm>
            <a:off x="4917056" y="2935778"/>
            <a:ext cx="8448722" cy="1293349"/>
            <a:chOff x="-31487" y="-50694"/>
            <a:chExt cx="1719477" cy="263222"/>
          </a:xfrm>
        </p:grpSpPr>
        <p:sp>
          <p:nvSpPr>
            <p:cNvPr id="20" name="Google Shape;112;p2">
              <a:extLst>
                <a:ext uri="{FF2B5EF4-FFF2-40B4-BE49-F238E27FC236}">
                  <a16:creationId xmlns:a16="http://schemas.microsoft.com/office/drawing/2014/main" id="{344D3BF4-58C4-43F7-8547-866DE978A08F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3;p2">
              <a:extLst>
                <a:ext uri="{FF2B5EF4-FFF2-40B4-BE49-F238E27FC236}">
                  <a16:creationId xmlns:a16="http://schemas.microsoft.com/office/drawing/2014/main" id="{C31DBD3F-AF0A-46A9-943C-638281CFCCDE}"/>
                </a:ext>
              </a:extLst>
            </p:cNvPr>
            <p:cNvSpPr txBox="1"/>
            <p:nvPr/>
          </p:nvSpPr>
          <p:spPr>
            <a:xfrm>
              <a:off x="-31487" y="-50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Stronger augmentation</a:t>
              </a:r>
              <a:endParaRPr sz="2300" dirty="0"/>
            </a:p>
          </p:txBody>
        </p:sp>
      </p:grpSp>
      <p:grpSp>
        <p:nvGrpSpPr>
          <p:cNvPr id="22" name="Google Shape;114;p2">
            <a:extLst>
              <a:ext uri="{FF2B5EF4-FFF2-40B4-BE49-F238E27FC236}">
                <a16:creationId xmlns:a16="http://schemas.microsoft.com/office/drawing/2014/main" id="{925887D3-42F7-4AEA-8B7E-450D817D7F32}"/>
              </a:ext>
            </a:extLst>
          </p:cNvPr>
          <p:cNvGrpSpPr/>
          <p:nvPr/>
        </p:nvGrpSpPr>
        <p:grpSpPr>
          <a:xfrm>
            <a:off x="4643788" y="3016287"/>
            <a:ext cx="273269" cy="741280"/>
            <a:chOff x="0" y="-95250"/>
            <a:chExt cx="55616" cy="150866"/>
          </a:xfrm>
        </p:grpSpPr>
        <p:sp>
          <p:nvSpPr>
            <p:cNvPr id="23" name="Google Shape;115;p2">
              <a:extLst>
                <a:ext uri="{FF2B5EF4-FFF2-40B4-BE49-F238E27FC236}">
                  <a16:creationId xmlns:a16="http://schemas.microsoft.com/office/drawing/2014/main" id="{A5A143E9-FA75-4F63-9252-E6A4E470B64A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24" name="Google Shape;116;p2">
              <a:extLst>
                <a:ext uri="{FF2B5EF4-FFF2-40B4-BE49-F238E27FC236}">
                  <a16:creationId xmlns:a16="http://schemas.microsoft.com/office/drawing/2014/main" id="{52E92F82-4438-42C3-B2F4-3C0CB7A3FC97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117;p2">
            <a:extLst>
              <a:ext uri="{FF2B5EF4-FFF2-40B4-BE49-F238E27FC236}">
                <a16:creationId xmlns:a16="http://schemas.microsoft.com/office/drawing/2014/main" id="{92813372-310C-42F4-8EA4-2AB178F0BD9B}"/>
              </a:ext>
            </a:extLst>
          </p:cNvPr>
          <p:cNvGrpSpPr/>
          <p:nvPr/>
        </p:nvGrpSpPr>
        <p:grpSpPr>
          <a:xfrm>
            <a:off x="5071769" y="4459994"/>
            <a:ext cx="8294009" cy="1293349"/>
            <a:chOff x="0" y="-51694"/>
            <a:chExt cx="1687990" cy="263222"/>
          </a:xfrm>
        </p:grpSpPr>
        <p:sp>
          <p:nvSpPr>
            <p:cNvPr id="26" name="Google Shape;118;p2">
              <a:extLst>
                <a:ext uri="{FF2B5EF4-FFF2-40B4-BE49-F238E27FC236}">
                  <a16:creationId xmlns:a16="http://schemas.microsoft.com/office/drawing/2014/main" id="{C7F607A2-55AC-4427-9135-9DADABBECE5C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9;p2">
              <a:extLst>
                <a:ext uri="{FF2B5EF4-FFF2-40B4-BE49-F238E27FC236}">
                  <a16:creationId xmlns:a16="http://schemas.microsoft.com/office/drawing/2014/main" id="{AAF09C80-F351-443A-B650-FE80F79AFCE5}"/>
                </a:ext>
              </a:extLst>
            </p:cNvPr>
            <p:cNvSpPr txBox="1"/>
            <p:nvPr/>
          </p:nvSpPr>
          <p:spPr>
            <a:xfrm>
              <a:off x="0" y="-51694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Domain-specific fine-tuning</a:t>
              </a:r>
              <a:endParaRPr sz="2300" dirty="0"/>
            </a:p>
          </p:txBody>
        </p:sp>
      </p:grpSp>
      <p:grpSp>
        <p:nvGrpSpPr>
          <p:cNvPr id="28" name="Google Shape;120;p2">
            <a:extLst>
              <a:ext uri="{FF2B5EF4-FFF2-40B4-BE49-F238E27FC236}">
                <a16:creationId xmlns:a16="http://schemas.microsoft.com/office/drawing/2014/main" id="{F401F590-AFF6-4084-8C33-4892F1543533}"/>
              </a:ext>
            </a:extLst>
          </p:cNvPr>
          <p:cNvGrpSpPr/>
          <p:nvPr/>
        </p:nvGrpSpPr>
        <p:grpSpPr>
          <a:xfrm>
            <a:off x="4643788" y="4545417"/>
            <a:ext cx="273269" cy="741280"/>
            <a:chOff x="0" y="-95250"/>
            <a:chExt cx="55616" cy="150866"/>
          </a:xfrm>
        </p:grpSpPr>
        <p:sp>
          <p:nvSpPr>
            <p:cNvPr id="29" name="Google Shape;121;p2">
              <a:extLst>
                <a:ext uri="{FF2B5EF4-FFF2-40B4-BE49-F238E27FC236}">
                  <a16:creationId xmlns:a16="http://schemas.microsoft.com/office/drawing/2014/main" id="{557F79F3-144B-402F-89EE-C8EC77BB4FE5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30" name="Google Shape;122;p2">
              <a:extLst>
                <a:ext uri="{FF2B5EF4-FFF2-40B4-BE49-F238E27FC236}">
                  <a16:creationId xmlns:a16="http://schemas.microsoft.com/office/drawing/2014/main" id="{89595BC9-7984-43A0-9EF3-082109F0DE5A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123;p2">
            <a:extLst>
              <a:ext uri="{FF2B5EF4-FFF2-40B4-BE49-F238E27FC236}">
                <a16:creationId xmlns:a16="http://schemas.microsoft.com/office/drawing/2014/main" id="{C0A006B4-84E7-46E0-B9C1-B8A000FC8F68}"/>
              </a:ext>
            </a:extLst>
          </p:cNvPr>
          <p:cNvGrpSpPr/>
          <p:nvPr/>
        </p:nvGrpSpPr>
        <p:grpSpPr>
          <a:xfrm>
            <a:off x="5071769" y="5828847"/>
            <a:ext cx="8294009" cy="1293349"/>
            <a:chOff x="0" y="-66783"/>
            <a:chExt cx="1687990" cy="263222"/>
          </a:xfrm>
        </p:grpSpPr>
        <p:sp>
          <p:nvSpPr>
            <p:cNvPr id="32" name="Google Shape;124;p2">
              <a:extLst>
                <a:ext uri="{FF2B5EF4-FFF2-40B4-BE49-F238E27FC236}">
                  <a16:creationId xmlns:a16="http://schemas.microsoft.com/office/drawing/2014/main" id="{1D187A1A-AD9A-44C8-92FE-764C74332905}"/>
                </a:ext>
              </a:extLst>
            </p:cNvPr>
            <p:cNvSpPr/>
            <p:nvPr/>
          </p:nvSpPr>
          <p:spPr>
            <a:xfrm>
              <a:off x="0" y="0"/>
              <a:ext cx="1687990" cy="177497"/>
            </a:xfrm>
            <a:custGeom>
              <a:avLst/>
              <a:gdLst/>
              <a:ahLst/>
              <a:cxnLst/>
              <a:rect l="l" t="t" r="r" b="b"/>
              <a:pathLst>
                <a:path w="1687990" h="177497" extrusionOk="0">
                  <a:moveTo>
                    <a:pt x="28003" y="0"/>
                  </a:moveTo>
                  <a:lnTo>
                    <a:pt x="1659987" y="0"/>
                  </a:lnTo>
                  <a:cubicBezTo>
                    <a:pt x="1675453" y="0"/>
                    <a:pt x="1687990" y="12537"/>
                    <a:pt x="1687990" y="28003"/>
                  </a:cubicBezTo>
                  <a:lnTo>
                    <a:pt x="1687990" y="149494"/>
                  </a:lnTo>
                  <a:cubicBezTo>
                    <a:pt x="1687990" y="156920"/>
                    <a:pt x="1685040" y="164043"/>
                    <a:pt x="1679789" y="169295"/>
                  </a:cubicBezTo>
                  <a:cubicBezTo>
                    <a:pt x="1674537" y="174546"/>
                    <a:pt x="1667414" y="177497"/>
                    <a:pt x="1659987" y="177497"/>
                  </a:cubicBezTo>
                  <a:lnTo>
                    <a:pt x="28003" y="177497"/>
                  </a:lnTo>
                  <a:cubicBezTo>
                    <a:pt x="12537" y="177497"/>
                    <a:pt x="0" y="164959"/>
                    <a:pt x="0" y="149494"/>
                  </a:cubicBezTo>
                  <a:lnTo>
                    <a:pt x="0" y="28003"/>
                  </a:lnTo>
                  <a:cubicBezTo>
                    <a:pt x="0" y="12537"/>
                    <a:pt x="12537" y="0"/>
                    <a:pt x="28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0054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5;p2">
              <a:extLst>
                <a:ext uri="{FF2B5EF4-FFF2-40B4-BE49-F238E27FC236}">
                  <a16:creationId xmlns:a16="http://schemas.microsoft.com/office/drawing/2014/main" id="{50529AD3-8481-470F-A744-DFFCA12F0828}"/>
                </a:ext>
              </a:extLst>
            </p:cNvPr>
            <p:cNvSpPr txBox="1"/>
            <p:nvPr/>
          </p:nvSpPr>
          <p:spPr>
            <a:xfrm>
              <a:off x="0" y="-66783"/>
              <a:ext cx="1687990" cy="263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2300" b="1" dirty="0">
                  <a:solidFill>
                    <a:srgbClr val="39352C"/>
                  </a:solidFill>
                  <a:latin typeface="Times"/>
                  <a:ea typeface="Times"/>
                  <a:cs typeface="Times"/>
                  <a:sym typeface="Times"/>
                </a:rPr>
                <a:t>Real clinical testing</a:t>
              </a:r>
              <a:endParaRPr sz="2300" dirty="0"/>
            </a:p>
          </p:txBody>
        </p:sp>
      </p:grpSp>
      <p:grpSp>
        <p:nvGrpSpPr>
          <p:cNvPr id="34" name="Google Shape;126;p2">
            <a:extLst>
              <a:ext uri="{FF2B5EF4-FFF2-40B4-BE49-F238E27FC236}">
                <a16:creationId xmlns:a16="http://schemas.microsoft.com/office/drawing/2014/main" id="{79E40F7F-DCF5-4AF5-8242-9A54893092C8}"/>
              </a:ext>
            </a:extLst>
          </p:cNvPr>
          <p:cNvGrpSpPr/>
          <p:nvPr/>
        </p:nvGrpSpPr>
        <p:grpSpPr>
          <a:xfrm>
            <a:off x="4643788" y="5988410"/>
            <a:ext cx="273269" cy="741280"/>
            <a:chOff x="0" y="-95250"/>
            <a:chExt cx="55616" cy="150866"/>
          </a:xfrm>
        </p:grpSpPr>
        <p:sp>
          <p:nvSpPr>
            <p:cNvPr id="35" name="Google Shape;127;p2">
              <a:extLst>
                <a:ext uri="{FF2B5EF4-FFF2-40B4-BE49-F238E27FC236}">
                  <a16:creationId xmlns:a16="http://schemas.microsoft.com/office/drawing/2014/main" id="{DB1145A4-062E-4558-86B7-C0B4B93D6091}"/>
                </a:ext>
              </a:extLst>
            </p:cNvPr>
            <p:cNvSpPr/>
            <p:nvPr/>
          </p:nvSpPr>
          <p:spPr>
            <a:xfrm>
              <a:off x="0" y="0"/>
              <a:ext cx="55616" cy="55616"/>
            </a:xfrm>
            <a:custGeom>
              <a:avLst/>
              <a:gdLst/>
              <a:ahLst/>
              <a:cxnLst/>
              <a:rect l="l" t="t" r="r" b="b"/>
              <a:pathLst>
                <a:path w="55616" h="55616" extrusionOk="0">
                  <a:moveTo>
                    <a:pt x="0" y="0"/>
                  </a:moveTo>
                  <a:lnTo>
                    <a:pt x="55616" y="0"/>
                  </a:lnTo>
                  <a:lnTo>
                    <a:pt x="55616" y="55616"/>
                  </a:lnTo>
                  <a:lnTo>
                    <a:pt x="0" y="55616"/>
                  </a:lnTo>
                  <a:close/>
                </a:path>
              </a:pathLst>
            </a:custGeom>
            <a:solidFill>
              <a:srgbClr val="0054C5">
                <a:alpha val="82352"/>
              </a:srgbClr>
            </a:solidFill>
            <a:ln>
              <a:noFill/>
            </a:ln>
          </p:spPr>
        </p:sp>
        <p:sp>
          <p:nvSpPr>
            <p:cNvPr id="36" name="Google Shape;128;p2">
              <a:extLst>
                <a:ext uri="{FF2B5EF4-FFF2-40B4-BE49-F238E27FC236}">
                  <a16:creationId xmlns:a16="http://schemas.microsoft.com/office/drawing/2014/main" id="{5CDC53DB-60B0-4D6F-9F5F-FBB78966581E}"/>
                </a:ext>
              </a:extLst>
            </p:cNvPr>
            <p:cNvSpPr txBox="1"/>
            <p:nvPr/>
          </p:nvSpPr>
          <p:spPr>
            <a:xfrm>
              <a:off x="0" y="-95250"/>
              <a:ext cx="55616" cy="150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829767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6482298" y="985054"/>
            <a:ext cx="5044921" cy="8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2"/>
              </a:lnSpc>
            </a:pPr>
            <a:r>
              <a:rPr lang="en-US" sz="4799" b="1" dirty="0">
                <a:solidFill>
                  <a:srgbClr val="01386A"/>
                </a:solidFill>
                <a:latin typeface="Times"/>
                <a:cs typeface="Times"/>
                <a:sym typeface="Times"/>
              </a:rPr>
              <a:t>Conclusion</a:t>
            </a:r>
            <a:endParaRPr dirty="0"/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572126" y="1150175"/>
            <a:ext cx="4605958" cy="3574184"/>
            <a:chOff x="0" y="-76200"/>
            <a:chExt cx="1091033" cy="84663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1091033" cy="770432"/>
            </a:xfrm>
            <a:custGeom>
              <a:avLst/>
              <a:gdLst/>
              <a:ahLst/>
              <a:cxnLst/>
              <a:rect l="l" t="t" r="r" b="b"/>
              <a:pathLst>
                <a:path w="1091033" h="770432" extrusionOk="0">
                  <a:moveTo>
                    <a:pt x="33617" y="0"/>
                  </a:moveTo>
                  <a:lnTo>
                    <a:pt x="1057416" y="0"/>
                  </a:lnTo>
                  <a:cubicBezTo>
                    <a:pt x="1066332" y="0"/>
                    <a:pt x="1074883" y="3542"/>
                    <a:pt x="1081187" y="9846"/>
                  </a:cubicBezTo>
                  <a:cubicBezTo>
                    <a:pt x="1087492" y="16151"/>
                    <a:pt x="1091033" y="24701"/>
                    <a:pt x="1091033" y="33617"/>
                  </a:cubicBezTo>
                  <a:lnTo>
                    <a:pt x="1091033" y="736815"/>
                  </a:lnTo>
                  <a:cubicBezTo>
                    <a:pt x="1091033" y="745731"/>
                    <a:pt x="1087492" y="754282"/>
                    <a:pt x="1081187" y="760586"/>
                  </a:cubicBezTo>
                  <a:cubicBezTo>
                    <a:pt x="1074883" y="766891"/>
                    <a:pt x="1066332" y="770432"/>
                    <a:pt x="1057416" y="770432"/>
                  </a:cubicBezTo>
                  <a:lnTo>
                    <a:pt x="33617" y="770432"/>
                  </a:lnTo>
                  <a:cubicBezTo>
                    <a:pt x="24701" y="770432"/>
                    <a:pt x="16151" y="766891"/>
                    <a:pt x="9846" y="760586"/>
                  </a:cubicBezTo>
                  <a:cubicBezTo>
                    <a:pt x="3542" y="754282"/>
                    <a:pt x="0" y="745731"/>
                    <a:pt x="0" y="736815"/>
                  </a:cubicBezTo>
                  <a:lnTo>
                    <a:pt x="0" y="33617"/>
                  </a:lnTo>
                  <a:cubicBezTo>
                    <a:pt x="0" y="24701"/>
                    <a:pt x="3542" y="16151"/>
                    <a:pt x="9846" y="9846"/>
                  </a:cubicBezTo>
                  <a:cubicBezTo>
                    <a:pt x="16151" y="3542"/>
                    <a:pt x="24701" y="0"/>
                    <a:pt x="33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76200"/>
              <a:ext cx="1091033" cy="846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176;p6">
            <a:extLst>
              <a:ext uri="{FF2B5EF4-FFF2-40B4-BE49-F238E27FC236}">
                <a16:creationId xmlns:a16="http://schemas.microsoft.com/office/drawing/2014/main" id="{58AD6154-523A-4164-9561-9D5545A6E260}"/>
              </a:ext>
            </a:extLst>
          </p:cNvPr>
          <p:cNvSpPr txBox="1"/>
          <p:nvPr/>
        </p:nvSpPr>
        <p:spPr>
          <a:xfrm>
            <a:off x="4916555" y="2474232"/>
            <a:ext cx="10071653" cy="346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4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All models classify melanoma successfully</a:t>
            </a:r>
          </a:p>
          <a:p>
            <a:pPr marL="514350" lvl="0" indent="-514350">
              <a:lnSpc>
                <a:spcPct val="14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VGG16 gives best accuracy(87%)</a:t>
            </a:r>
          </a:p>
          <a:p>
            <a:pPr marL="514350" lvl="0" indent="-514350">
              <a:lnSpc>
                <a:spcPct val="14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Deep learning can support early melanoma screening</a:t>
            </a:r>
          </a:p>
          <a:p>
            <a:pPr marL="514350" lvl="0" indent="-514350">
              <a:lnSpc>
                <a:spcPct val="14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3220" b="1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Transfer learning is critical for small medical datasets</a:t>
            </a:r>
          </a:p>
          <a:p>
            <a:pPr marL="514350" lvl="0" indent="-514350">
              <a:lnSpc>
                <a:spcPct val="14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322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still needs real-world clinical validation</a:t>
            </a:r>
            <a:endParaRPr sz="322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56511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3;p1">
            <a:extLst>
              <a:ext uri="{FF2B5EF4-FFF2-40B4-BE49-F238E27FC236}">
                <a16:creationId xmlns:a16="http://schemas.microsoft.com/office/drawing/2014/main" id="{793FEA89-2507-40C5-A41C-05CB26AE5A23}"/>
              </a:ext>
            </a:extLst>
          </p:cNvPr>
          <p:cNvSpPr txBox="1"/>
          <p:nvPr/>
        </p:nvSpPr>
        <p:spPr>
          <a:xfrm>
            <a:off x="4299467" y="4034582"/>
            <a:ext cx="9231003" cy="174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8000"/>
              </a:lnSpc>
            </a:pPr>
            <a:r>
              <a:rPr lang="en-US" sz="9600" b="1" dirty="0">
                <a:solidFill>
                  <a:srgbClr val="F46134"/>
                </a:solidFill>
                <a:latin typeface="Times"/>
                <a:cs typeface="Times"/>
                <a:sym typeface="Times"/>
              </a:rPr>
              <a:t>Thank You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24726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250</Words>
  <Application>Microsoft Office PowerPoint</Application>
  <PresentationFormat>Custom</PresentationFormat>
  <Paragraphs>67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Arnob Chakraborty</dc:creator>
  <cp:lastModifiedBy>USER</cp:lastModifiedBy>
  <cp:revision>18</cp:revision>
  <dcterms:created xsi:type="dcterms:W3CDTF">2006-08-16T00:00:00Z</dcterms:created>
  <dcterms:modified xsi:type="dcterms:W3CDTF">2025-11-23T13:21:43Z</dcterms:modified>
</cp:coreProperties>
</file>